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4263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65" d="100"/>
          <a:sy n="65" d="100"/>
        </p:scale>
        <p:origin x="93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3814570-6083-7581-A000-B240D6FC43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E9317D24-20EC-61AD-1639-308F4B16E3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CB41D050-921E-8B79-82CC-384085C1B7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6BC790-1FD1-4FAB-B3F8-CB75C8ADFF00}" type="datetimeFigureOut">
              <a:rPr lang="it-IT" smtClean="0"/>
              <a:t>11/06/2026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9D35EB36-4613-74AD-84FB-05EFD560D7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796BAFC2-A60C-4E63-BEC9-1B20258CCB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84B5BB-1B0C-4866-96FF-C3B0310CEF3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6294605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7B46967-B89E-95F5-F6A4-4D06B236C1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E514AE9A-0C2B-2141-3609-0BDC620D5C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46FA6793-E0F3-7AB4-3959-D32336FA11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6BC790-1FD1-4FAB-B3F8-CB75C8ADFF00}" type="datetimeFigureOut">
              <a:rPr lang="it-IT" smtClean="0"/>
              <a:t>11/06/2026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EDE481B5-F463-ACE1-E45C-902BC3A3F4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454C306C-118E-21D3-FDF4-7524779E56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84B5BB-1B0C-4866-96FF-C3B0310CEF3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3266088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3644ABF-8610-85B2-FD42-165101A8E4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A78D6E95-E31D-49BC-B20B-C9F24155BE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267E6E0F-2920-B9FD-DDA0-6A4A29244F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6BC790-1FD1-4FAB-B3F8-CB75C8ADFF00}" type="datetimeFigureOut">
              <a:rPr lang="it-IT" smtClean="0"/>
              <a:t>11/06/2026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D408BFD0-DFA8-D90E-6339-8206F47AF4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BE9DFBD3-633B-4DEC-B400-FC7D12CD83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84B5BB-1B0C-4866-96FF-C3B0310CEF3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7717479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2EC2C8F-B6E9-ECFF-AF84-6D637696A3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78AD55B7-751C-36D1-F857-0F1026719B7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108855D1-CA16-87A0-F344-8E22244A96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C9D5EEFE-6567-DA3C-3339-3D319FF489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6BC790-1FD1-4FAB-B3F8-CB75C8ADFF00}" type="datetimeFigureOut">
              <a:rPr lang="it-IT" smtClean="0"/>
              <a:t>11/06/2026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6388A301-6C08-A7DE-BDC7-4E14BA01C6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66C7612A-02C8-4E4D-6316-C7446A6454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84B5BB-1B0C-4866-96FF-C3B0310CEF3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8733168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DFFBA58-4904-E29B-B526-A85EE1FABC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D60DCFED-DFAE-711E-80B1-779962D6F9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4C0AFA61-B09A-AA66-1F22-CA3722B9F0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AB66111B-ACE7-9363-62AD-5A68D8B3448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BE6E6410-673A-10F6-2801-A454DE9DC9C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8944A3DB-86C0-56C4-0396-38ED10FFC4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6BC790-1FD1-4FAB-B3F8-CB75C8ADFF00}" type="datetimeFigureOut">
              <a:rPr lang="it-IT" smtClean="0"/>
              <a:t>11/06/2026</a:t>
            </a:fld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828257A3-916A-4754-0545-4E6239B81C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73432154-F728-78F8-8EC8-37CEA283C2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84B5BB-1B0C-4866-96FF-C3B0310CEF3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8501048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FFB9D63-912E-2744-8199-3C8B528554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9BA6F2DB-AF59-E537-68FE-5CA76D96D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6BC790-1FD1-4FAB-B3F8-CB75C8ADFF00}" type="datetimeFigureOut">
              <a:rPr lang="it-IT" smtClean="0"/>
              <a:t>11/06/2026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5BCAF715-E3C6-5A51-7C77-6649671189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E81E2DB5-6201-62E0-250F-4514FD5E02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84B5BB-1B0C-4866-96FF-C3B0310CEF3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7686032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C0CFD80D-BFF9-597F-D37E-28732F9A88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6BC790-1FD1-4FAB-B3F8-CB75C8ADFF00}" type="datetimeFigureOut">
              <a:rPr lang="it-IT" smtClean="0"/>
              <a:t>11/06/2026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1B3FB25C-38D8-D27F-E60B-AC15A8B2B3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84A043C2-F348-EFA4-D771-B30DBDCF6B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84B5BB-1B0C-4866-96FF-C3B0310CEF3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3705042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67047DA-98D9-E1CC-782F-00FB46E7DE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BF889B34-B7D9-A56D-0489-E8C78F61B6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BA5CF08A-5235-A1E4-ECE9-6EDC68EA39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AB62F5D1-1CA7-6041-566E-649129797E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6BC790-1FD1-4FAB-B3F8-CB75C8ADFF00}" type="datetimeFigureOut">
              <a:rPr lang="it-IT" smtClean="0"/>
              <a:t>11/06/2026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09994EBC-E170-AE79-4443-E11685B6C4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95349B99-AE91-7B2B-B3AE-98460B91AD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84B5BB-1B0C-4866-96FF-C3B0310CEF3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4165793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455B5FC-0CE9-4525-B80A-38431C9C4D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E3B8212F-0C41-CCBD-84CB-D6AEF400A05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476609C1-E2B5-209D-890A-D8D51D04B3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565C9346-7659-1339-6864-3EE3C73ED3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6BC790-1FD1-4FAB-B3F8-CB75C8ADFF00}" type="datetimeFigureOut">
              <a:rPr lang="it-IT" smtClean="0"/>
              <a:t>11/06/2026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E5890669-B868-52DD-F418-F844CB4E82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DFC17B5D-1537-FB53-CFF3-29F4EA5B99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84B5BB-1B0C-4866-96FF-C3B0310CEF3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855930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6C7F000-6147-763F-63AC-3E7F815A54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480321FD-9410-E454-1AFD-B3FABAF984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CBF0DEB8-61C7-9182-0725-836CBE24B5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6BC790-1FD1-4FAB-B3F8-CB75C8ADFF00}" type="datetimeFigureOut">
              <a:rPr lang="it-IT" smtClean="0"/>
              <a:t>11/06/2026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BDF5272D-CC24-F224-FFB6-F75D2AE708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A444904C-4E55-2ECC-7CE6-91FD38995C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84B5BB-1B0C-4866-96FF-C3B0310CEF3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1151156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CA890270-060D-9FD1-0BB6-CCEF5D44697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CB79D87F-E732-F61C-17DD-027FEB5988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EE847AA1-299D-49C6-D934-34B466E696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6BC790-1FD1-4FAB-B3F8-CB75C8ADFF00}" type="datetimeFigureOut">
              <a:rPr lang="it-IT" smtClean="0"/>
              <a:t>11/06/2026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74E6DCD8-E586-00D3-2C8D-5BA7232C6C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560CA250-E0BE-6DF6-BD59-2C388C4654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84B5BB-1B0C-4866-96FF-C3B0310CEF3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8470231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CD9EDA7D-A603-E231-BBAF-EFA5255B59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B61F7691-1165-BDEF-765E-E18E0ABE71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68B9BA4C-46C8-D362-94AD-7FCB4765933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96BC790-1FD1-4FAB-B3F8-CB75C8ADFF00}" type="datetimeFigureOut">
              <a:rPr lang="it-IT" smtClean="0"/>
              <a:t>11/06/2026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FB6034DB-D18D-5C59-AAFA-EA04D268698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CA17DEA2-FD25-3763-67D6-00587800819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984B5BB-1B0C-4866-96FF-C3B0310CEF3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5766744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8" name="Rectangle 47">
            <a:extLst>
              <a:ext uri="{FF2B5EF4-FFF2-40B4-BE49-F238E27FC236}">
                <a16:creationId xmlns:a16="http://schemas.microsoft.com/office/drawing/2014/main" id="{2151139A-886F-4B97-8815-729AD3831B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pic>
        <p:nvPicPr>
          <p:cNvPr id="30" name="Immagine 29">
            <a:extLst>
              <a:ext uri="{FF2B5EF4-FFF2-40B4-BE49-F238E27FC236}">
                <a16:creationId xmlns:a16="http://schemas.microsoft.com/office/drawing/2014/main" id="{98936FEC-4750-6AC5-ACAD-4300C0ACB0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230" r="9202" b="-1"/>
          <a:stretch>
            <a:fillRect/>
          </a:stretch>
        </p:blipFill>
        <p:spPr>
          <a:xfrm>
            <a:off x="17" y="1499"/>
            <a:ext cx="12196614" cy="6716036"/>
          </a:xfrm>
          <a:prstGeom prst="rect">
            <a:avLst/>
          </a:prstGeom>
        </p:spPr>
      </p:pic>
      <p:sp>
        <p:nvSpPr>
          <p:cNvPr id="50" name="Rectangle 49">
            <a:extLst>
              <a:ext uri="{FF2B5EF4-FFF2-40B4-BE49-F238E27FC236}">
                <a16:creationId xmlns:a16="http://schemas.microsoft.com/office/drawing/2014/main" id="{AB5E08C4-8CDD-4623-A5B8-E998C6DEE3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4466372"/>
            <a:ext cx="12191998" cy="2390128"/>
          </a:xfrm>
          <a:prstGeom prst="rect">
            <a:avLst/>
          </a:prstGeom>
          <a:gradFill>
            <a:gsLst>
              <a:gs pos="34000">
                <a:srgbClr val="000000">
                  <a:alpha val="96000"/>
                </a:srgbClr>
              </a:gs>
              <a:gs pos="100000">
                <a:schemeClr val="accent1"/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AFFC87AC-C919-4FE5-BAC3-39509E0011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4464543"/>
            <a:ext cx="8115300" cy="2391958"/>
          </a:xfrm>
          <a:prstGeom prst="rect">
            <a:avLst/>
          </a:prstGeom>
          <a:gradFill>
            <a:gsLst>
              <a:gs pos="28000">
                <a:schemeClr val="accent1">
                  <a:lumMod val="75000"/>
                  <a:alpha val="59000"/>
                </a:schemeClr>
              </a:gs>
              <a:gs pos="100000">
                <a:srgbClr val="000000">
                  <a:alpha val="70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7D0659F6-0853-468D-B1B2-44FDBE98B8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9269" y="4466372"/>
            <a:ext cx="12201266" cy="2390128"/>
          </a:xfrm>
          <a:prstGeom prst="rect">
            <a:avLst/>
          </a:prstGeom>
          <a:gradFill>
            <a:gsLst>
              <a:gs pos="0">
                <a:srgbClr val="000000">
                  <a:alpha val="71765"/>
                </a:srgbClr>
              </a:gs>
              <a:gs pos="100000">
                <a:schemeClr val="accent1">
                  <a:alpha val="24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15F33878-D502-4FFA-8ACE-F2AECDB2A2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8" y="4466372"/>
            <a:ext cx="4081336" cy="2390128"/>
          </a:xfrm>
          <a:prstGeom prst="rect">
            <a:avLst/>
          </a:prstGeom>
          <a:gradFill>
            <a:gsLst>
              <a:gs pos="19000">
                <a:srgbClr val="000000">
                  <a:alpha val="62000"/>
                </a:srgbClr>
              </a:gs>
              <a:gs pos="100000">
                <a:schemeClr val="accent1">
                  <a:lumMod val="75000"/>
                  <a:alpha val="44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977ACDD7-882D-4B81-A213-84C82B96B0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4635" y="4486258"/>
            <a:ext cx="12194550" cy="1968154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5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Freeform: Shape 59">
            <a:extLst>
              <a:ext uri="{FF2B5EF4-FFF2-40B4-BE49-F238E27FC236}">
                <a16:creationId xmlns:a16="http://schemas.microsoft.com/office/drawing/2014/main" id="{D625ED14-F0D2-4FCA-87F3-4E3D2A03DF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4834054">
            <a:off x="6748954" y="2254165"/>
            <a:ext cx="3118759" cy="4639931"/>
          </a:xfrm>
          <a:custGeom>
            <a:avLst/>
            <a:gdLst>
              <a:gd name="connsiteX0" fmla="*/ 3118759 w 3118759"/>
              <a:gd name="connsiteY0" fmla="*/ 79510 h 4639931"/>
              <a:gd name="connsiteX1" fmla="*/ 1204940 w 3118759"/>
              <a:gd name="connsiteY1" fmla="*/ 4639931 h 4639931"/>
              <a:gd name="connsiteX2" fmla="*/ 1103495 w 3118759"/>
              <a:gd name="connsiteY2" fmla="*/ 4578302 h 4639931"/>
              <a:gd name="connsiteX3" fmla="*/ 0 w 3118759"/>
              <a:gd name="connsiteY3" fmla="*/ 2502877 h 4639931"/>
              <a:gd name="connsiteX4" fmla="*/ 2502877 w 3118759"/>
              <a:gd name="connsiteY4" fmla="*/ 0 h 4639931"/>
              <a:gd name="connsiteX5" fmla="*/ 3007294 w 3118759"/>
              <a:gd name="connsiteY5" fmla="*/ 50850 h 46399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118759" h="4639931">
                <a:moveTo>
                  <a:pt x="3118759" y="79510"/>
                </a:moveTo>
                <a:lnTo>
                  <a:pt x="1204940" y="4639931"/>
                </a:lnTo>
                <a:lnTo>
                  <a:pt x="1103495" y="4578302"/>
                </a:lnTo>
                <a:cubicBezTo>
                  <a:pt x="437725" y="4128517"/>
                  <a:pt x="0" y="3366815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2675665" y="0"/>
                  <a:pt x="2844363" y="17509"/>
                  <a:pt x="3007294" y="50850"/>
                </a:cubicBezTo>
                <a:close/>
              </a:path>
            </a:pathLst>
          </a:custGeom>
          <a:gradFill>
            <a:gsLst>
              <a:gs pos="31000">
                <a:schemeClr val="accent1">
                  <a:alpha val="0"/>
                </a:schemeClr>
              </a:gs>
              <a:gs pos="85000">
                <a:schemeClr val="accent1">
                  <a:alpha val="1700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5C80703E-5A06-50D7-6076-B5F78AA8F5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48583" y="433342"/>
            <a:ext cx="8299481" cy="858742"/>
          </a:xfrm>
        </p:spPr>
        <p:txBody>
          <a:bodyPr anchor="ctr">
            <a:normAutofit/>
          </a:bodyPr>
          <a:lstStyle/>
          <a:p>
            <a:pPr algn="l"/>
            <a:r>
              <a:rPr lang="it-IT" sz="4800" dirty="0">
                <a:solidFill>
                  <a:srgbClr val="FFFFFF"/>
                </a:solidFill>
                <a:latin typeface="Impact" panose="020B0806030902050204" pitchFamily="34" charset="0"/>
              </a:rPr>
              <a:t>Drone </a:t>
            </a:r>
            <a:r>
              <a:rPr lang="it-IT" sz="4800" dirty="0" err="1">
                <a:solidFill>
                  <a:srgbClr val="FFFFFF"/>
                </a:solidFill>
                <a:latin typeface="Impact" panose="020B0806030902050204" pitchFamily="34" charset="0"/>
              </a:rPr>
              <a:t>Guidance</a:t>
            </a:r>
            <a:r>
              <a:rPr lang="it-IT" sz="4800" dirty="0">
                <a:solidFill>
                  <a:srgbClr val="FFFFFF"/>
                </a:solidFill>
                <a:latin typeface="Impact" panose="020B0806030902050204" pitchFamily="34" charset="0"/>
              </a:rPr>
              <a:t> Challenge 2026 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6CCEA17A-3B46-BA83-BB25-B8E390F2C8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371471" y="1311970"/>
            <a:ext cx="3453704" cy="436643"/>
          </a:xfrm>
        </p:spPr>
        <p:txBody>
          <a:bodyPr anchor="t">
            <a:normAutofit/>
          </a:bodyPr>
          <a:lstStyle/>
          <a:p>
            <a:pPr algn="l"/>
            <a:r>
              <a:rPr lang="it-IT" sz="2000" dirty="0">
                <a:solidFill>
                  <a:srgbClr val="FFFFFF"/>
                </a:solidFill>
                <a:latin typeface="Impact" panose="020B0806030902050204" pitchFamily="34" charset="0"/>
              </a:rPr>
              <a:t>Sistemi di Guida e Navigazione </a:t>
            </a:r>
          </a:p>
        </p:txBody>
      </p:sp>
      <p:sp>
        <p:nvSpPr>
          <p:cNvPr id="49" name="CasellaDiTesto 48">
            <a:extLst>
              <a:ext uri="{FF2B5EF4-FFF2-40B4-BE49-F238E27FC236}">
                <a16:creationId xmlns:a16="http://schemas.microsoft.com/office/drawing/2014/main" id="{798D7EAF-0928-47F3-A34D-B2F8A78F7D37}"/>
              </a:ext>
            </a:extLst>
          </p:cNvPr>
          <p:cNvSpPr txBox="1"/>
          <p:nvPr/>
        </p:nvSpPr>
        <p:spPr>
          <a:xfrm>
            <a:off x="62638" y="4562394"/>
            <a:ext cx="2567356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600" dirty="0">
                <a:solidFill>
                  <a:schemeClr val="bg1"/>
                </a:solidFill>
                <a:latin typeface="Impact" panose="020B0806030902050204" pitchFamily="34" charset="0"/>
                <a:ea typeface="Verdana" panose="020B0604030504040204" pitchFamily="34" charset="0"/>
              </a:rPr>
              <a:t>A cura del Team Ponio:</a:t>
            </a:r>
          </a:p>
          <a:p>
            <a:r>
              <a:rPr lang="it-IT" sz="1600" dirty="0">
                <a:solidFill>
                  <a:schemeClr val="bg1"/>
                </a:solidFill>
                <a:latin typeface="Impact" panose="020B0806030902050204" pitchFamily="34" charset="0"/>
                <a:ea typeface="Verdana" panose="020B0604030504040204" pitchFamily="34" charset="0"/>
              </a:rPr>
              <a:t>Ettore </a:t>
            </a:r>
            <a:r>
              <a:rPr lang="it-IT" sz="1600" dirty="0" err="1">
                <a:solidFill>
                  <a:schemeClr val="bg1"/>
                </a:solidFill>
                <a:latin typeface="Impact" panose="020B0806030902050204" pitchFamily="34" charset="0"/>
                <a:ea typeface="Verdana" panose="020B0604030504040204" pitchFamily="34" charset="0"/>
              </a:rPr>
              <a:t>Bioli</a:t>
            </a:r>
            <a:endParaRPr lang="it-IT" sz="1600" dirty="0">
              <a:solidFill>
                <a:schemeClr val="bg1"/>
              </a:solidFill>
              <a:latin typeface="Impact" panose="020B0806030902050204" pitchFamily="34" charset="0"/>
              <a:ea typeface="Verdana" panose="020B0604030504040204" pitchFamily="34" charset="0"/>
            </a:endParaRPr>
          </a:p>
          <a:p>
            <a:r>
              <a:rPr lang="it-IT" sz="1600" dirty="0">
                <a:solidFill>
                  <a:schemeClr val="bg1"/>
                </a:solidFill>
                <a:latin typeface="Impact" panose="020B0806030902050204" pitchFamily="34" charset="0"/>
                <a:ea typeface="Verdana" panose="020B0604030504040204" pitchFamily="34" charset="0"/>
              </a:rPr>
              <a:t>Francesco Bonciani</a:t>
            </a:r>
          </a:p>
          <a:p>
            <a:r>
              <a:rPr lang="it-IT" sz="1600" dirty="0">
                <a:solidFill>
                  <a:schemeClr val="bg1"/>
                </a:solidFill>
                <a:latin typeface="Impact" panose="020B0806030902050204" pitchFamily="34" charset="0"/>
                <a:ea typeface="Verdana" panose="020B0604030504040204" pitchFamily="34" charset="0"/>
              </a:rPr>
              <a:t>Edoardo Di Scalzo</a:t>
            </a:r>
          </a:p>
          <a:p>
            <a:r>
              <a:rPr lang="it-IT" sz="1600" dirty="0">
                <a:solidFill>
                  <a:schemeClr val="bg1"/>
                </a:solidFill>
                <a:latin typeface="Impact" panose="020B0806030902050204" pitchFamily="34" charset="0"/>
                <a:ea typeface="Verdana" panose="020B0604030504040204" pitchFamily="34" charset="0"/>
              </a:rPr>
              <a:t>Rolando Giuliano </a:t>
            </a:r>
          </a:p>
          <a:p>
            <a:r>
              <a:rPr lang="it-IT" sz="1600" dirty="0">
                <a:solidFill>
                  <a:schemeClr val="bg1"/>
                </a:solidFill>
                <a:latin typeface="Impact" panose="020B0806030902050204" pitchFamily="34" charset="0"/>
                <a:ea typeface="Verdana" panose="020B0604030504040204" pitchFamily="34" charset="0"/>
              </a:rPr>
              <a:t>Luigi Realacci</a:t>
            </a:r>
          </a:p>
          <a:p>
            <a:r>
              <a:rPr lang="it-IT" sz="1600" dirty="0">
                <a:solidFill>
                  <a:schemeClr val="bg1"/>
                </a:solidFill>
                <a:latin typeface="Impact" panose="020B0806030902050204" pitchFamily="34" charset="0"/>
                <a:ea typeface="Verdana" panose="020B0604030504040204" pitchFamily="34" charset="0"/>
              </a:rPr>
              <a:t>Edoardo Tamberi (</a:t>
            </a:r>
            <a:r>
              <a:rPr lang="it-IT" sz="1600" dirty="0" err="1">
                <a:solidFill>
                  <a:schemeClr val="bg1"/>
                </a:solidFill>
                <a:latin typeface="Impact" panose="020B0806030902050204" pitchFamily="34" charset="0"/>
                <a:ea typeface="Verdana" panose="020B0604030504040204" pitchFamily="34" charset="0"/>
              </a:rPr>
              <a:t>Timponio</a:t>
            </a:r>
            <a:r>
              <a:rPr lang="it-IT" sz="1600" dirty="0">
                <a:solidFill>
                  <a:schemeClr val="bg1"/>
                </a:solidFill>
                <a:latin typeface="Impact" panose="020B0806030902050204" pitchFamily="34" charset="0"/>
                <a:ea typeface="Verdana" panose="020B0604030504040204" pitchFamily="34" charset="0"/>
              </a:rPr>
              <a:t>) </a:t>
            </a:r>
          </a:p>
        </p:txBody>
      </p:sp>
      <p:pic>
        <p:nvPicPr>
          <p:cNvPr id="53" name="Immagine 52">
            <a:extLst>
              <a:ext uri="{FF2B5EF4-FFF2-40B4-BE49-F238E27FC236}">
                <a16:creationId xmlns:a16="http://schemas.microsoft.com/office/drawing/2014/main" id="{F74952E0-BF4E-273A-545D-C6BC49EA6F6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8333" y="4844490"/>
            <a:ext cx="3677545" cy="12486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78821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D6F37DB-01E9-4FC8-E4C0-E64C9F1005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8" name="Rectangle 47">
            <a:extLst>
              <a:ext uri="{FF2B5EF4-FFF2-40B4-BE49-F238E27FC236}">
                <a16:creationId xmlns:a16="http://schemas.microsoft.com/office/drawing/2014/main" id="{2F07AE1E-E308-7215-74A1-0F3E9B8EFB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pic>
        <p:nvPicPr>
          <p:cNvPr id="30" name="Immagine 29">
            <a:extLst>
              <a:ext uri="{FF2B5EF4-FFF2-40B4-BE49-F238E27FC236}">
                <a16:creationId xmlns:a16="http://schemas.microsoft.com/office/drawing/2014/main" id="{ADEB853A-5DD0-DBBF-2A21-7F447B0327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230" r="9202" b="-1"/>
          <a:stretch>
            <a:fillRect/>
          </a:stretch>
        </p:blipFill>
        <p:spPr>
          <a:xfrm>
            <a:off x="17" y="1499"/>
            <a:ext cx="12196614" cy="6716036"/>
          </a:xfrm>
          <a:prstGeom prst="rect">
            <a:avLst/>
          </a:prstGeom>
        </p:spPr>
      </p:pic>
      <p:sp>
        <p:nvSpPr>
          <p:cNvPr id="50" name="Rectangle 49">
            <a:extLst>
              <a:ext uri="{FF2B5EF4-FFF2-40B4-BE49-F238E27FC236}">
                <a16:creationId xmlns:a16="http://schemas.microsoft.com/office/drawing/2014/main" id="{CA55E8C3-552D-E413-E587-BEC15B6EE6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4466372"/>
            <a:ext cx="12191998" cy="2390128"/>
          </a:xfrm>
          <a:prstGeom prst="rect">
            <a:avLst/>
          </a:prstGeom>
          <a:gradFill>
            <a:gsLst>
              <a:gs pos="34000">
                <a:srgbClr val="000000">
                  <a:alpha val="96000"/>
                </a:srgbClr>
              </a:gs>
              <a:gs pos="100000">
                <a:schemeClr val="accent1"/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CF551960-D60D-8EC3-58A0-577D2DEDBF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4464543"/>
            <a:ext cx="8115300" cy="2391958"/>
          </a:xfrm>
          <a:prstGeom prst="rect">
            <a:avLst/>
          </a:prstGeom>
          <a:gradFill>
            <a:gsLst>
              <a:gs pos="28000">
                <a:schemeClr val="accent1">
                  <a:lumMod val="75000"/>
                  <a:alpha val="59000"/>
                </a:schemeClr>
              </a:gs>
              <a:gs pos="100000">
                <a:srgbClr val="000000">
                  <a:alpha val="70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27171564-8435-C3CA-3E06-F011D772D9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9269" y="4466372"/>
            <a:ext cx="12201266" cy="2390128"/>
          </a:xfrm>
          <a:prstGeom prst="rect">
            <a:avLst/>
          </a:prstGeom>
          <a:gradFill>
            <a:gsLst>
              <a:gs pos="0">
                <a:srgbClr val="000000">
                  <a:alpha val="71765"/>
                </a:srgbClr>
              </a:gs>
              <a:gs pos="100000">
                <a:schemeClr val="accent1">
                  <a:alpha val="24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453E8C34-F0E3-392C-ADFE-280481810C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8" y="4466372"/>
            <a:ext cx="4081336" cy="2390128"/>
          </a:xfrm>
          <a:prstGeom prst="rect">
            <a:avLst/>
          </a:prstGeom>
          <a:gradFill>
            <a:gsLst>
              <a:gs pos="19000">
                <a:srgbClr val="000000">
                  <a:alpha val="62000"/>
                </a:srgbClr>
              </a:gs>
              <a:gs pos="100000">
                <a:schemeClr val="accent1">
                  <a:lumMod val="75000"/>
                  <a:alpha val="44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7533EDEA-621D-9C63-F6A3-1CE592755D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4635" y="4486258"/>
            <a:ext cx="12194550" cy="1968154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5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Freeform: Shape 59">
            <a:extLst>
              <a:ext uri="{FF2B5EF4-FFF2-40B4-BE49-F238E27FC236}">
                <a16:creationId xmlns:a16="http://schemas.microsoft.com/office/drawing/2014/main" id="{79C0526B-5170-64BE-2033-C155E6D881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4834054">
            <a:off x="6748954" y="2254165"/>
            <a:ext cx="3118759" cy="4639931"/>
          </a:xfrm>
          <a:custGeom>
            <a:avLst/>
            <a:gdLst>
              <a:gd name="connsiteX0" fmla="*/ 3118759 w 3118759"/>
              <a:gd name="connsiteY0" fmla="*/ 79510 h 4639931"/>
              <a:gd name="connsiteX1" fmla="*/ 1204940 w 3118759"/>
              <a:gd name="connsiteY1" fmla="*/ 4639931 h 4639931"/>
              <a:gd name="connsiteX2" fmla="*/ 1103495 w 3118759"/>
              <a:gd name="connsiteY2" fmla="*/ 4578302 h 4639931"/>
              <a:gd name="connsiteX3" fmla="*/ 0 w 3118759"/>
              <a:gd name="connsiteY3" fmla="*/ 2502877 h 4639931"/>
              <a:gd name="connsiteX4" fmla="*/ 2502877 w 3118759"/>
              <a:gd name="connsiteY4" fmla="*/ 0 h 4639931"/>
              <a:gd name="connsiteX5" fmla="*/ 3007294 w 3118759"/>
              <a:gd name="connsiteY5" fmla="*/ 50850 h 46399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118759" h="4639931">
                <a:moveTo>
                  <a:pt x="3118759" y="79510"/>
                </a:moveTo>
                <a:lnTo>
                  <a:pt x="1204940" y="4639931"/>
                </a:lnTo>
                <a:lnTo>
                  <a:pt x="1103495" y="4578302"/>
                </a:lnTo>
                <a:cubicBezTo>
                  <a:pt x="437725" y="4128517"/>
                  <a:pt x="0" y="3366815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2675665" y="0"/>
                  <a:pt x="2844363" y="17509"/>
                  <a:pt x="3007294" y="50850"/>
                </a:cubicBezTo>
                <a:close/>
              </a:path>
            </a:pathLst>
          </a:custGeom>
          <a:gradFill>
            <a:gsLst>
              <a:gs pos="31000">
                <a:schemeClr val="accent1">
                  <a:alpha val="0"/>
                </a:schemeClr>
              </a:gs>
              <a:gs pos="85000">
                <a:schemeClr val="accent1">
                  <a:alpha val="1700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A84DBB15-977B-192B-537F-393603FDA0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52577" y="493163"/>
            <a:ext cx="5485305" cy="858742"/>
          </a:xfrm>
        </p:spPr>
        <p:txBody>
          <a:bodyPr anchor="ctr">
            <a:normAutofit fontScale="90000"/>
          </a:bodyPr>
          <a:lstStyle/>
          <a:p>
            <a:pPr algn="l"/>
            <a:r>
              <a:rPr lang="it-IT" sz="4800" dirty="0" err="1">
                <a:solidFill>
                  <a:srgbClr val="FFFFFF"/>
                </a:solidFill>
                <a:latin typeface="Impact" panose="020B0806030902050204" pitchFamily="34" charset="0"/>
              </a:rPr>
              <a:t>Sigma_dot</a:t>
            </a:r>
            <a:r>
              <a:rPr lang="it-IT" sz="4800" dirty="0">
                <a:solidFill>
                  <a:srgbClr val="FFFFFF"/>
                </a:solidFill>
                <a:latin typeface="Impact" panose="020B0806030902050204" pitchFamily="34" charset="0"/>
              </a:rPr>
              <a:t> and </a:t>
            </a:r>
            <a:r>
              <a:rPr lang="it-IT" sz="4800" dirty="0" err="1">
                <a:solidFill>
                  <a:srgbClr val="FFFFFF"/>
                </a:solidFill>
                <a:latin typeface="Impact" panose="020B0806030902050204" pitchFamily="34" charset="0"/>
              </a:rPr>
              <a:t>rdot_estimation</a:t>
            </a:r>
            <a:endParaRPr lang="it-IT" sz="4800" dirty="0">
              <a:solidFill>
                <a:srgbClr val="FFFFFF"/>
              </a:solidFill>
              <a:latin typeface="Impact" panose="020B0806030902050204" pitchFamily="34" charset="0"/>
            </a:endParaRPr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E7DB3A06-0437-3F4B-1EDC-FB562749210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840" y="851361"/>
            <a:ext cx="5961160" cy="5155277"/>
          </a:xfrm>
          <a:prstGeom prst="rect">
            <a:avLst/>
          </a:prstGeom>
        </p:spPr>
      </p:pic>
      <p:pic>
        <p:nvPicPr>
          <p:cNvPr id="53" name="Immagine 52">
            <a:extLst>
              <a:ext uri="{FF2B5EF4-FFF2-40B4-BE49-F238E27FC236}">
                <a16:creationId xmlns:a16="http://schemas.microsoft.com/office/drawing/2014/main" id="{04EB9768-31EC-1A0C-4C4B-62F5EFA1C37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8333" y="4845986"/>
            <a:ext cx="3677545" cy="1248697"/>
          </a:xfrm>
          <a:prstGeom prst="rect">
            <a:avLst/>
          </a:prstGeom>
        </p:spPr>
      </p:pic>
      <p:sp>
        <p:nvSpPr>
          <p:cNvPr id="8" name="CasellaDiTesto 7">
            <a:extLst>
              <a:ext uri="{FF2B5EF4-FFF2-40B4-BE49-F238E27FC236}">
                <a16:creationId xmlns:a16="http://schemas.microsoft.com/office/drawing/2014/main" id="{F65C909C-7C2F-9F55-75A5-D3D639438E9C}"/>
              </a:ext>
            </a:extLst>
          </p:cNvPr>
          <p:cNvSpPr txBox="1"/>
          <p:nvPr/>
        </p:nvSpPr>
        <p:spPr>
          <a:xfrm>
            <a:off x="6352577" y="1616098"/>
            <a:ext cx="5485305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it-IT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 valori di </a:t>
            </a:r>
            <a:r>
              <a:rPr lang="it-IT" b="1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sigma_dot</a:t>
            </a:r>
            <a:r>
              <a:rPr lang="it-IT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e </a:t>
            </a:r>
            <a:r>
              <a:rPr lang="it-IT" b="1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r_dot</a:t>
            </a:r>
            <a:r>
              <a:rPr lang="it-IT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sono stati stimati mediante fading filter del secondo ordine. Per l’implementazione della legge APNG l’accelerazione del target è stata invece calcolata derivando i dati di velocità nel tempo e filtrando questi ultimi con filtro low pass.</a:t>
            </a:r>
          </a:p>
        </p:txBody>
      </p:sp>
    </p:spTree>
    <p:extLst>
      <p:ext uri="{BB962C8B-B14F-4D97-AF65-F5344CB8AC3E}">
        <p14:creationId xmlns:p14="http://schemas.microsoft.com/office/powerpoint/2010/main" val="42598469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B6F590D-9E7C-77F8-3B29-85A4D0D43B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8" name="Rectangle 47">
            <a:extLst>
              <a:ext uri="{FF2B5EF4-FFF2-40B4-BE49-F238E27FC236}">
                <a16:creationId xmlns:a16="http://schemas.microsoft.com/office/drawing/2014/main" id="{98E5A097-7985-8518-4909-C24D52551F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pic>
        <p:nvPicPr>
          <p:cNvPr id="30" name="Immagine 29">
            <a:extLst>
              <a:ext uri="{FF2B5EF4-FFF2-40B4-BE49-F238E27FC236}">
                <a16:creationId xmlns:a16="http://schemas.microsoft.com/office/drawing/2014/main" id="{81CE7929-0BF4-8153-2AEC-AF9E59DD89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230" r="9202" b="-1"/>
          <a:stretch>
            <a:fillRect/>
          </a:stretch>
        </p:blipFill>
        <p:spPr>
          <a:xfrm>
            <a:off x="17" y="1499"/>
            <a:ext cx="12196614" cy="6716036"/>
          </a:xfrm>
          <a:prstGeom prst="rect">
            <a:avLst/>
          </a:prstGeom>
        </p:spPr>
      </p:pic>
      <p:sp>
        <p:nvSpPr>
          <p:cNvPr id="50" name="Rectangle 49">
            <a:extLst>
              <a:ext uri="{FF2B5EF4-FFF2-40B4-BE49-F238E27FC236}">
                <a16:creationId xmlns:a16="http://schemas.microsoft.com/office/drawing/2014/main" id="{696B1829-1C06-8C4C-57B6-ABA3220DCE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4466372"/>
            <a:ext cx="12191998" cy="2390128"/>
          </a:xfrm>
          <a:prstGeom prst="rect">
            <a:avLst/>
          </a:prstGeom>
          <a:gradFill>
            <a:gsLst>
              <a:gs pos="34000">
                <a:srgbClr val="000000">
                  <a:alpha val="96000"/>
                </a:srgbClr>
              </a:gs>
              <a:gs pos="100000">
                <a:schemeClr val="accent1"/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EDE0D75D-B3B1-D2B1-926C-A2C69DD3D6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4464543"/>
            <a:ext cx="8115300" cy="2391958"/>
          </a:xfrm>
          <a:prstGeom prst="rect">
            <a:avLst/>
          </a:prstGeom>
          <a:gradFill>
            <a:gsLst>
              <a:gs pos="28000">
                <a:schemeClr val="accent1">
                  <a:lumMod val="75000"/>
                  <a:alpha val="59000"/>
                </a:schemeClr>
              </a:gs>
              <a:gs pos="100000">
                <a:srgbClr val="000000">
                  <a:alpha val="70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E064D4C5-CACE-2EB9-FF3F-8A74953513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9269" y="4466372"/>
            <a:ext cx="12201266" cy="2390128"/>
          </a:xfrm>
          <a:prstGeom prst="rect">
            <a:avLst/>
          </a:prstGeom>
          <a:gradFill>
            <a:gsLst>
              <a:gs pos="0">
                <a:srgbClr val="000000">
                  <a:alpha val="71765"/>
                </a:srgbClr>
              </a:gs>
              <a:gs pos="100000">
                <a:schemeClr val="accent1">
                  <a:alpha val="24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F6B7C61D-99A6-E375-F3E3-407E33E09F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8" y="4466372"/>
            <a:ext cx="4081336" cy="2390128"/>
          </a:xfrm>
          <a:prstGeom prst="rect">
            <a:avLst/>
          </a:prstGeom>
          <a:gradFill>
            <a:gsLst>
              <a:gs pos="19000">
                <a:srgbClr val="000000">
                  <a:alpha val="62000"/>
                </a:srgbClr>
              </a:gs>
              <a:gs pos="100000">
                <a:schemeClr val="accent1">
                  <a:lumMod val="75000"/>
                  <a:alpha val="44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FD2ED786-6029-9A64-7634-3E97455A80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4635" y="4486258"/>
            <a:ext cx="12194550" cy="1968154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5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Freeform: Shape 59">
            <a:extLst>
              <a:ext uri="{FF2B5EF4-FFF2-40B4-BE49-F238E27FC236}">
                <a16:creationId xmlns:a16="http://schemas.microsoft.com/office/drawing/2014/main" id="{292D4534-987B-8963-3569-6BDC1D20F7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4834054">
            <a:off x="6748954" y="2254165"/>
            <a:ext cx="3118759" cy="4639931"/>
          </a:xfrm>
          <a:custGeom>
            <a:avLst/>
            <a:gdLst>
              <a:gd name="connsiteX0" fmla="*/ 3118759 w 3118759"/>
              <a:gd name="connsiteY0" fmla="*/ 79510 h 4639931"/>
              <a:gd name="connsiteX1" fmla="*/ 1204940 w 3118759"/>
              <a:gd name="connsiteY1" fmla="*/ 4639931 h 4639931"/>
              <a:gd name="connsiteX2" fmla="*/ 1103495 w 3118759"/>
              <a:gd name="connsiteY2" fmla="*/ 4578302 h 4639931"/>
              <a:gd name="connsiteX3" fmla="*/ 0 w 3118759"/>
              <a:gd name="connsiteY3" fmla="*/ 2502877 h 4639931"/>
              <a:gd name="connsiteX4" fmla="*/ 2502877 w 3118759"/>
              <a:gd name="connsiteY4" fmla="*/ 0 h 4639931"/>
              <a:gd name="connsiteX5" fmla="*/ 3007294 w 3118759"/>
              <a:gd name="connsiteY5" fmla="*/ 50850 h 46399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118759" h="4639931">
                <a:moveTo>
                  <a:pt x="3118759" y="79510"/>
                </a:moveTo>
                <a:lnTo>
                  <a:pt x="1204940" y="4639931"/>
                </a:lnTo>
                <a:lnTo>
                  <a:pt x="1103495" y="4578302"/>
                </a:lnTo>
                <a:cubicBezTo>
                  <a:pt x="437725" y="4128517"/>
                  <a:pt x="0" y="3366815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2675665" y="0"/>
                  <a:pt x="2844363" y="17509"/>
                  <a:pt x="3007294" y="50850"/>
                </a:cubicBezTo>
                <a:close/>
              </a:path>
            </a:pathLst>
          </a:custGeom>
          <a:gradFill>
            <a:gsLst>
              <a:gs pos="31000">
                <a:schemeClr val="accent1">
                  <a:alpha val="0"/>
                </a:schemeClr>
              </a:gs>
              <a:gs pos="85000">
                <a:schemeClr val="accent1">
                  <a:alpha val="1700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D936E8AE-6B34-53BA-F3F9-54B5C9A760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10275" y="267460"/>
            <a:ext cx="4556487" cy="858742"/>
          </a:xfrm>
        </p:spPr>
        <p:txBody>
          <a:bodyPr anchor="ctr">
            <a:normAutofit fontScale="90000"/>
          </a:bodyPr>
          <a:lstStyle/>
          <a:p>
            <a:pPr algn="l"/>
            <a:r>
              <a:rPr lang="it-IT" sz="4800" dirty="0" err="1">
                <a:solidFill>
                  <a:srgbClr val="FFFFFF"/>
                </a:solidFill>
                <a:latin typeface="Impact" panose="020B0806030902050204" pitchFamily="34" charset="0"/>
              </a:rPr>
              <a:t>Fixed</a:t>
            </a:r>
            <a:r>
              <a:rPr lang="it-IT" sz="4800" dirty="0">
                <a:solidFill>
                  <a:srgbClr val="FFFFFF"/>
                </a:solidFill>
                <a:latin typeface="Impact" panose="020B0806030902050204" pitchFamily="34" charset="0"/>
              </a:rPr>
              <a:t> </a:t>
            </a:r>
            <a:r>
              <a:rPr lang="it-IT" sz="4800" dirty="0" err="1">
                <a:solidFill>
                  <a:srgbClr val="FFFFFF"/>
                </a:solidFill>
                <a:latin typeface="Impact" panose="020B0806030902050204" pitchFamily="34" charset="0"/>
              </a:rPr>
              <a:t>Guidance</a:t>
            </a:r>
            <a:r>
              <a:rPr lang="it-IT" sz="4800" dirty="0">
                <a:solidFill>
                  <a:srgbClr val="FFFFFF"/>
                </a:solidFill>
                <a:latin typeface="Impact" panose="020B0806030902050204" pitchFamily="34" charset="0"/>
              </a:rPr>
              <a:t> Law</a:t>
            </a:r>
          </a:p>
        </p:txBody>
      </p:sp>
      <p:pic>
        <p:nvPicPr>
          <p:cNvPr id="53" name="Immagine 52">
            <a:extLst>
              <a:ext uri="{FF2B5EF4-FFF2-40B4-BE49-F238E27FC236}">
                <a16:creationId xmlns:a16="http://schemas.microsoft.com/office/drawing/2014/main" id="{FE930644-3C39-0058-DC3E-150B1E1CBB5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8333" y="4844490"/>
            <a:ext cx="3677545" cy="1248697"/>
          </a:xfrm>
          <a:prstGeom prst="rect">
            <a:avLst/>
          </a:prstGeom>
        </p:spPr>
      </p:pic>
      <p:sp>
        <p:nvSpPr>
          <p:cNvPr id="8" name="CasellaDiTesto 7">
            <a:extLst>
              <a:ext uri="{FF2B5EF4-FFF2-40B4-BE49-F238E27FC236}">
                <a16:creationId xmlns:a16="http://schemas.microsoft.com/office/drawing/2014/main" id="{CD85C5CA-74B1-3DD2-5B5A-30BB7AAFDB47}"/>
              </a:ext>
            </a:extLst>
          </p:cNvPr>
          <p:cNvSpPr txBox="1"/>
          <p:nvPr/>
        </p:nvSpPr>
        <p:spPr>
          <a:xfrm>
            <a:off x="6310275" y="1126202"/>
            <a:ext cx="5483209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it-IT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La funzione </a:t>
            </a:r>
            <a:r>
              <a:rPr lang="it-IT" b="1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my_guidance</a:t>
            </a:r>
            <a:r>
              <a:rPr lang="it-IT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implementa 4 tipologie diverse di guida. Ciò consente di avere versatilità sulla scelta della legge di guida in fase di test e gara. Sono state testate PNG con </a:t>
            </a:r>
            <a:r>
              <a:rPr lang="it-IT" b="1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bias</a:t>
            </a:r>
            <a:r>
              <a:rPr lang="it-IT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, </a:t>
            </a:r>
            <a:r>
              <a:rPr lang="it-IT" b="1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Pursuit</a:t>
            </a:r>
            <a:r>
              <a:rPr lang="it-IT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e APNG in varie configurazioni del Target.</a:t>
            </a: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7FE23E43-30C4-3482-8FF6-F215D5295BB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6122" y="1901702"/>
            <a:ext cx="5889877" cy="29888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21398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236FDA0-21CE-27A4-78A6-5473D3FCFB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8" name="Rectangle 47">
            <a:extLst>
              <a:ext uri="{FF2B5EF4-FFF2-40B4-BE49-F238E27FC236}">
                <a16:creationId xmlns:a16="http://schemas.microsoft.com/office/drawing/2014/main" id="{D77D78AB-5F63-CD72-B2C8-80B661C919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pic>
        <p:nvPicPr>
          <p:cNvPr id="30" name="Immagine 29">
            <a:extLst>
              <a:ext uri="{FF2B5EF4-FFF2-40B4-BE49-F238E27FC236}">
                <a16:creationId xmlns:a16="http://schemas.microsoft.com/office/drawing/2014/main" id="{4C560364-31B3-291A-5DDF-75B34EA52F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230" r="9202" b="-1"/>
          <a:stretch>
            <a:fillRect/>
          </a:stretch>
        </p:blipFill>
        <p:spPr>
          <a:xfrm>
            <a:off x="17" y="1499"/>
            <a:ext cx="12196614" cy="6716036"/>
          </a:xfrm>
          <a:prstGeom prst="rect">
            <a:avLst/>
          </a:prstGeom>
        </p:spPr>
      </p:pic>
      <p:sp>
        <p:nvSpPr>
          <p:cNvPr id="50" name="Rectangle 49">
            <a:extLst>
              <a:ext uri="{FF2B5EF4-FFF2-40B4-BE49-F238E27FC236}">
                <a16:creationId xmlns:a16="http://schemas.microsoft.com/office/drawing/2014/main" id="{80822567-AFEC-7B54-E479-A8EA9B37E0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4466372"/>
            <a:ext cx="12191998" cy="2390128"/>
          </a:xfrm>
          <a:prstGeom prst="rect">
            <a:avLst/>
          </a:prstGeom>
          <a:gradFill>
            <a:gsLst>
              <a:gs pos="34000">
                <a:srgbClr val="000000">
                  <a:alpha val="96000"/>
                </a:srgbClr>
              </a:gs>
              <a:gs pos="100000">
                <a:schemeClr val="accent1"/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55142F7A-5C53-F27C-5C04-875768D82D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4464543"/>
            <a:ext cx="8115300" cy="2391958"/>
          </a:xfrm>
          <a:prstGeom prst="rect">
            <a:avLst/>
          </a:prstGeom>
          <a:gradFill>
            <a:gsLst>
              <a:gs pos="28000">
                <a:schemeClr val="accent1">
                  <a:lumMod val="75000"/>
                  <a:alpha val="59000"/>
                </a:schemeClr>
              </a:gs>
              <a:gs pos="100000">
                <a:srgbClr val="000000">
                  <a:alpha val="70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C0B27532-86F7-693E-39D4-E3D87CC219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9269" y="4466372"/>
            <a:ext cx="12201266" cy="2390128"/>
          </a:xfrm>
          <a:prstGeom prst="rect">
            <a:avLst/>
          </a:prstGeom>
          <a:gradFill>
            <a:gsLst>
              <a:gs pos="0">
                <a:srgbClr val="000000">
                  <a:alpha val="71765"/>
                </a:srgbClr>
              </a:gs>
              <a:gs pos="100000">
                <a:schemeClr val="accent1">
                  <a:alpha val="24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18A3B9F4-980C-6B76-E3DF-51553B5D10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8" y="4466372"/>
            <a:ext cx="4081336" cy="2390128"/>
          </a:xfrm>
          <a:prstGeom prst="rect">
            <a:avLst/>
          </a:prstGeom>
          <a:gradFill>
            <a:gsLst>
              <a:gs pos="19000">
                <a:srgbClr val="000000">
                  <a:alpha val="62000"/>
                </a:srgbClr>
              </a:gs>
              <a:gs pos="100000">
                <a:schemeClr val="accent1">
                  <a:lumMod val="75000"/>
                  <a:alpha val="44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ACF670CF-6F56-4268-EEDC-240F759E3D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4635" y="4486258"/>
            <a:ext cx="12194550" cy="1968154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5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Freeform: Shape 59">
            <a:extLst>
              <a:ext uri="{FF2B5EF4-FFF2-40B4-BE49-F238E27FC236}">
                <a16:creationId xmlns:a16="http://schemas.microsoft.com/office/drawing/2014/main" id="{64CD58D1-79B0-954A-B4E7-E731A7F5CC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4834054">
            <a:off x="6748954" y="2254165"/>
            <a:ext cx="3118759" cy="4639931"/>
          </a:xfrm>
          <a:custGeom>
            <a:avLst/>
            <a:gdLst>
              <a:gd name="connsiteX0" fmla="*/ 3118759 w 3118759"/>
              <a:gd name="connsiteY0" fmla="*/ 79510 h 4639931"/>
              <a:gd name="connsiteX1" fmla="*/ 1204940 w 3118759"/>
              <a:gd name="connsiteY1" fmla="*/ 4639931 h 4639931"/>
              <a:gd name="connsiteX2" fmla="*/ 1103495 w 3118759"/>
              <a:gd name="connsiteY2" fmla="*/ 4578302 h 4639931"/>
              <a:gd name="connsiteX3" fmla="*/ 0 w 3118759"/>
              <a:gd name="connsiteY3" fmla="*/ 2502877 h 4639931"/>
              <a:gd name="connsiteX4" fmla="*/ 2502877 w 3118759"/>
              <a:gd name="connsiteY4" fmla="*/ 0 h 4639931"/>
              <a:gd name="connsiteX5" fmla="*/ 3007294 w 3118759"/>
              <a:gd name="connsiteY5" fmla="*/ 50850 h 46399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118759" h="4639931">
                <a:moveTo>
                  <a:pt x="3118759" y="79510"/>
                </a:moveTo>
                <a:lnTo>
                  <a:pt x="1204940" y="4639931"/>
                </a:lnTo>
                <a:lnTo>
                  <a:pt x="1103495" y="4578302"/>
                </a:lnTo>
                <a:cubicBezTo>
                  <a:pt x="437725" y="4128517"/>
                  <a:pt x="0" y="3366815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2675665" y="0"/>
                  <a:pt x="2844363" y="17509"/>
                  <a:pt x="3007294" y="50850"/>
                </a:cubicBezTo>
                <a:close/>
              </a:path>
            </a:pathLst>
          </a:custGeom>
          <a:gradFill>
            <a:gsLst>
              <a:gs pos="31000">
                <a:schemeClr val="accent1">
                  <a:alpha val="0"/>
                </a:schemeClr>
              </a:gs>
              <a:gs pos="85000">
                <a:schemeClr val="accent1">
                  <a:alpha val="1700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0B671F7C-FD26-46B0-3BE6-16BF0028CE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8324" y="175342"/>
            <a:ext cx="5108790" cy="858742"/>
          </a:xfrm>
        </p:spPr>
        <p:txBody>
          <a:bodyPr anchor="ctr">
            <a:normAutofit fontScale="90000"/>
          </a:bodyPr>
          <a:lstStyle/>
          <a:p>
            <a:pPr algn="l"/>
            <a:r>
              <a:rPr lang="it-IT" sz="4800" dirty="0" err="1">
                <a:solidFill>
                  <a:srgbClr val="FFFFFF"/>
                </a:solidFill>
                <a:latin typeface="Impact" panose="020B0806030902050204" pitchFamily="34" charset="0"/>
              </a:rPr>
              <a:t>Hybrid</a:t>
            </a:r>
            <a:r>
              <a:rPr lang="it-IT" sz="4800" dirty="0">
                <a:solidFill>
                  <a:srgbClr val="FFFFFF"/>
                </a:solidFill>
                <a:latin typeface="Impact" panose="020B0806030902050204" pitchFamily="34" charset="0"/>
              </a:rPr>
              <a:t> </a:t>
            </a:r>
            <a:r>
              <a:rPr lang="it-IT" sz="4800" dirty="0" err="1">
                <a:solidFill>
                  <a:srgbClr val="FFFFFF"/>
                </a:solidFill>
                <a:latin typeface="Impact" panose="020B0806030902050204" pitchFamily="34" charset="0"/>
              </a:rPr>
              <a:t>Guidance</a:t>
            </a:r>
            <a:r>
              <a:rPr lang="it-IT" sz="4800" dirty="0">
                <a:solidFill>
                  <a:srgbClr val="FFFFFF"/>
                </a:solidFill>
                <a:latin typeface="Impact" panose="020B0806030902050204" pitchFamily="34" charset="0"/>
              </a:rPr>
              <a:t> Law</a:t>
            </a:r>
          </a:p>
        </p:txBody>
      </p:sp>
      <p:pic>
        <p:nvPicPr>
          <p:cNvPr id="53" name="Immagine 52">
            <a:extLst>
              <a:ext uri="{FF2B5EF4-FFF2-40B4-BE49-F238E27FC236}">
                <a16:creationId xmlns:a16="http://schemas.microsoft.com/office/drawing/2014/main" id="{B4D978DD-A0EA-B793-F2C0-9F801EE86A3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8204" y="4842934"/>
            <a:ext cx="3695523" cy="1254802"/>
          </a:xfrm>
          <a:prstGeom prst="rect">
            <a:avLst/>
          </a:prstGeom>
        </p:spPr>
      </p:pic>
      <p:sp>
        <p:nvSpPr>
          <p:cNvPr id="8" name="CasellaDiTesto 7">
            <a:extLst>
              <a:ext uri="{FF2B5EF4-FFF2-40B4-BE49-F238E27FC236}">
                <a16:creationId xmlns:a16="http://schemas.microsoft.com/office/drawing/2014/main" id="{06153E33-5D56-9504-7345-B8F6E063346E}"/>
              </a:ext>
            </a:extLst>
          </p:cNvPr>
          <p:cNvSpPr txBox="1"/>
          <p:nvPr/>
        </p:nvSpPr>
        <p:spPr>
          <a:xfrm>
            <a:off x="6098324" y="1034084"/>
            <a:ext cx="571665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it-IT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Basandoci su sistemi reali è stata implementata una guida ibrida che segue la legge PNG in fase di avvicinamento al target e in fase di intercettazione cambia la legge di guida in APNG per garantire l’intercettazione di target intelligenti o acceleranti che eseguono manovre evasive per sfuggire al drone.</a:t>
            </a: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A8AD9176-2774-6CD3-808C-82EDBFD08DF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479" y="140465"/>
            <a:ext cx="5716654" cy="65770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031975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86</TotalTime>
  <Words>188</Words>
  <Application>Microsoft Office PowerPoint</Application>
  <PresentationFormat>Widescreen</PresentationFormat>
  <Paragraphs>15</Paragraphs>
  <Slides>4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5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4</vt:i4>
      </vt:variant>
    </vt:vector>
  </HeadingPairs>
  <TitlesOfParts>
    <vt:vector size="10" baseType="lpstr">
      <vt:lpstr>Aptos</vt:lpstr>
      <vt:lpstr>Aptos Display</vt:lpstr>
      <vt:lpstr>Arial</vt:lpstr>
      <vt:lpstr>Impact</vt:lpstr>
      <vt:lpstr>Verdana</vt:lpstr>
      <vt:lpstr>Tema di Office</vt:lpstr>
      <vt:lpstr>Drone Guidance Challenge 2026 </vt:lpstr>
      <vt:lpstr>Sigma_dot and rdot_estimation</vt:lpstr>
      <vt:lpstr>Fixed Guidance Law</vt:lpstr>
      <vt:lpstr>Hybrid Guidance Law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Francesco Bonciani</dc:creator>
  <cp:lastModifiedBy>Francesco Bonciani</cp:lastModifiedBy>
  <cp:revision>4</cp:revision>
  <dcterms:created xsi:type="dcterms:W3CDTF">2026-06-10T15:23:59Z</dcterms:created>
  <dcterms:modified xsi:type="dcterms:W3CDTF">2026-06-11T09:58:09Z</dcterms:modified>
</cp:coreProperties>
</file>